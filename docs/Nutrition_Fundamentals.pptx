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ClrTx/>
              <a:buSzTx/>
              <a:buFont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ClrTx/>
              <a:buSzTx/>
              <a:buFont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ClrTx/>
              <a:buSzTx/>
              <a:buFont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ClrTx/>
              <a:buSzTx/>
              <a:buFont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ClrTx/>
              <a:buSzTx/>
              <a:buFont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ClrTx/>
              <a:buSzTx/>
              <a:buFont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ClrTx/>
              <a:buSzTx/>
              <a:buFont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ClrTx/>
              <a:buSzTx/>
              <a:buFont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ClrTx/>
              <a:buSzTx/>
              <a:buFont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ClrTx/>
              <a:buSzTx/>
              <a:buFont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444500" marR="0" indent="-3048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5494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6891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8288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685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1082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2479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3876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527300" marR="0" indent="-1270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FFFFFF"/>
        </a:buClr>
        <a:buSzPct val="123000"/>
        <a:buFont typeface="Times Roman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utrition Fundamentals: A Science-Based Overvie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0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Nutrition Fundamentals: A Science-Based Overview</a:t>
            </a:r>
          </a:p>
        </p:txBody>
      </p:sp>
      <p:sp>
        <p:nvSpPr>
          <p:cNvPr id="172" name="Macronutrients, Micronutrients, Fats, Sugar &amp; Fibr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356615">
              <a:defRPr b="0" sz="5849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Macronutrients, Micronutrients, Fats, Sugar &amp; Fibre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Macronutri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7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Macronutrients</a:t>
            </a:r>
          </a:p>
        </p:txBody>
      </p:sp>
      <p:sp>
        <p:nvSpPr>
          <p:cNvPr id="175" name="The Three Macronutrients"/>
          <p:cNvSpPr txBox="1"/>
          <p:nvPr>
            <p:ph type="body" idx="21"/>
          </p:nvPr>
        </p:nvSpPr>
        <p:spPr>
          <a:xfrm>
            <a:off x="1206500" y="235518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5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The Three Macronutrients</a:t>
            </a:r>
          </a:p>
        </p:txBody>
      </p:sp>
      <p:sp>
        <p:nvSpPr>
          <p:cNvPr id="176" name="Carbohydrates — primary energy source, 4 cal/g, should be 45–75% of die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Carbohydrates — primary energy source, 4 cal/g, should be 45–75% of diet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Proteins — tissue repair and immune function, 4 cal/g, 0.8g/kg/day recommended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Fats — hormone production and vitamin absorption, 9 cal/g, limit to under 30% of diet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 three are essential — no macronutrient should be eliminated entirely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icronutri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7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Micronutrients</a:t>
            </a:r>
          </a:p>
        </p:txBody>
      </p:sp>
      <p:sp>
        <p:nvSpPr>
          <p:cNvPr id="179" name="Vitamins and Minerals: Small but Critical"/>
          <p:cNvSpPr txBox="1"/>
          <p:nvPr>
            <p:ph type="body" idx="21"/>
          </p:nvPr>
        </p:nvSpPr>
        <p:spPr>
          <a:xfrm>
            <a:off x="1206500" y="235518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5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Vitamins and Minerals: Small but Critical</a:t>
            </a:r>
          </a:p>
        </p:txBody>
      </p:sp>
      <p:sp>
        <p:nvSpPr>
          <p:cNvPr id="180" name="Micronutrients are required in small amounts but are essential for health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Micronutrients are required in small amounts but are essential for health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Vitamin D — bone health, immune function; deficiency is widespread globally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Vitamin C — antioxidant, immune support; found in citrus, peppers, broccoli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Iron — oxygen transport in blood; deficiency causes anaemia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Calcium — bone and teeth structure; found in dairy, leafy greens, tofu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Iodine — thyroid function; WHO recommends using iodised salt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ietary Fats and Suga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7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Dietary Fats and Sugar</a:t>
            </a:r>
          </a:p>
        </p:txBody>
      </p:sp>
      <p:sp>
        <p:nvSpPr>
          <p:cNvPr id="183" name="Fats and Sugar: What the Science Says"/>
          <p:cNvSpPr txBox="1"/>
          <p:nvPr>
            <p:ph type="body" idx="21"/>
          </p:nvPr>
        </p:nvSpPr>
        <p:spPr>
          <a:xfrm>
            <a:off x="1206500" y="235518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5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Fats and Sugar: What the Science Says</a:t>
            </a:r>
          </a:p>
        </p:txBody>
      </p:sp>
      <p:sp>
        <p:nvSpPr>
          <p:cNvPr id="184" name="Unsaturated fats are protective — found in olive oil, fish, avocados, nu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Unsaturated fats are protective — found in olive oil, fish, avocados, nuts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Saturated fats raise LDL cholesterol — limit to under 10% of total energy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 fats increase heart disease risk — industrially produced trans fats should be eliminated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Free sugars should be under 10% of total energy — ideally under 5%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Sugary drinks are the largest source of added sugar in most diets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Low-fat products often replace fat with sugar — always check the label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ietary Fib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7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Dietary Fibre</a:t>
            </a:r>
          </a:p>
        </p:txBody>
      </p:sp>
      <p:sp>
        <p:nvSpPr>
          <p:cNvPr id="187" name="Fibre: The Most Underrated Nutrient"/>
          <p:cNvSpPr txBox="1"/>
          <p:nvPr>
            <p:ph type="body" idx="21"/>
          </p:nvPr>
        </p:nvSpPr>
        <p:spPr>
          <a:xfrm>
            <a:off x="1206500" y="235518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5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Fibre: The Most Underrated Nutrient</a:t>
            </a:r>
          </a:p>
        </p:txBody>
      </p:sp>
      <p:sp>
        <p:nvSpPr>
          <p:cNvPr id="188" name="Most adults consume far less fibre than recommend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Most adults consume far less fibre than recommended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Recommended intake: at least 25g per day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Benefits: supports gut bacteria, slows digestion, controls blood sugar, lowers cholesterol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Soluble fibre — found in oats, beans, apples — dissolves in water, lowers LDL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Insoluble fibre — found in whole grains, vegetables — adds bulk, prevents constipation</a:t>
            </a:r>
          </a:p>
          <a:p>
            <a:pPr marL="635000" indent="-635000" defTabSz="457200">
              <a:lnSpc>
                <a:spcPct val="100000"/>
              </a:lnSpc>
              <a:spcBef>
                <a:spcPts val="0"/>
              </a:spcBef>
              <a:buClrTx/>
              <a:buSzPct val="40000"/>
              <a:buFontTx/>
              <a:buBlip>
                <a:blip r:embed="rId2"/>
              </a:buBlip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Best sources: legumes, whole grains, fruits, vegetables, nuts, seeds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